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BDC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119" d="100"/>
          <a:sy n="119" d="100"/>
        </p:scale>
        <p:origin x="7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57FA5-5532-F041-A86A-AD186D8DD7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C612457-5FE2-3E43-B91C-80D89383E9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D0059E-DE63-674C-B5A1-09888B0461C4}"/>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460A3180-C837-464C-8D6B-7330CBC3C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6F4C1F-2239-3241-87ED-9FAB21A0F4E4}"/>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800244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6360-E19C-5C43-9996-14A53EF789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09A450C-4BFB-3D4A-B9EB-3184287177F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A73DF0-E50B-5F4B-B54C-32901B2D34F7}"/>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14D759E0-81EF-3445-8218-E9940C016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7B4F6-C179-2049-90BF-853377E82DC7}"/>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1610172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7235-0021-4E46-AC51-ADFE763B360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4FE088-A8ED-D14B-9376-EA9A872CF3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957450-B02B-3348-942A-14371D3D5E3B}"/>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042D00A4-21B6-DA4E-9634-3707C0AB6C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18C09D-F2B6-9548-B015-CB5F751F20C8}"/>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3473792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29A5-B8B9-5448-B133-589E69FB420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1F6689-FFF7-0C46-AA42-6C4950A03B9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F05E3DB-8622-884E-8430-AA3C05A7AE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842859F-0F24-3044-AE3C-C1491ADA88C3}"/>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6" name="Footer Placeholder 5">
            <a:extLst>
              <a:ext uri="{FF2B5EF4-FFF2-40B4-BE49-F238E27FC236}">
                <a16:creationId xmlns:a16="http://schemas.microsoft.com/office/drawing/2014/main" id="{ED376164-444C-C845-B45C-1EFE5C8F65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818AFD-9F46-3248-AFFB-5EACF263C74D}"/>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245127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CE527-C7B3-FD4B-89B3-5ECACB7CB69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DC15368-8D4C-8349-91BB-36EE79E152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6249BF9-E239-0548-9BA6-6A11C24DBB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90FC665-3E6A-8B4D-9E2A-8A5195B59E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4386C18-5510-344E-9019-C87D4C266F0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8FA9C76-4DB1-7A49-821B-3E6A89B5B391}"/>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8" name="Footer Placeholder 7">
            <a:extLst>
              <a:ext uri="{FF2B5EF4-FFF2-40B4-BE49-F238E27FC236}">
                <a16:creationId xmlns:a16="http://schemas.microsoft.com/office/drawing/2014/main" id="{CA80A3A6-357C-114E-A112-2E0B2367A2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FFBC7-B67A-1241-9474-52DEE783630B}"/>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136481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EC6-63EF-DF44-8771-9100AFF006F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9CBCF3E-875B-9F41-B4FF-B25CB8551F12}"/>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4" name="Footer Placeholder 3">
            <a:extLst>
              <a:ext uri="{FF2B5EF4-FFF2-40B4-BE49-F238E27FC236}">
                <a16:creationId xmlns:a16="http://schemas.microsoft.com/office/drawing/2014/main" id="{E9A489F3-70B2-BF43-8C61-6A74C5DFFD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AEB225-79E5-464A-A188-0090AEABD34F}"/>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3408137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11C538-89FC-1645-A425-F05587B10863}"/>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3" name="Footer Placeholder 2">
            <a:extLst>
              <a:ext uri="{FF2B5EF4-FFF2-40B4-BE49-F238E27FC236}">
                <a16:creationId xmlns:a16="http://schemas.microsoft.com/office/drawing/2014/main" id="{30F11BBF-C543-A446-9323-873A232DBA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A25BD5-4892-A848-8DC8-DF5E5F8E3C1C}"/>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3379638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57FAE-E399-984C-A606-B8B313F223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C082BEB-2D0E-9048-BA0E-E44FD73345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C4EE26-216F-2545-9CAB-398A3C7B0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8A2BFE-BF7F-484B-BE51-E7883ED550E6}"/>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6" name="Footer Placeholder 5">
            <a:extLst>
              <a:ext uri="{FF2B5EF4-FFF2-40B4-BE49-F238E27FC236}">
                <a16:creationId xmlns:a16="http://schemas.microsoft.com/office/drawing/2014/main" id="{D59123E7-AE10-3B4D-9A21-96DF92762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BCB5B4-D862-D940-A613-CAACDF16CE02}"/>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24363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9EAFB-CA84-B848-99E8-75573F5551D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7E95C1-FAFE-BD43-800C-8F6310D1BD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8281EB-A8FB-D446-9C8B-14972BF8BD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C9D33F-9538-A44A-816B-13B1F4E454EC}"/>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6" name="Footer Placeholder 5">
            <a:extLst>
              <a:ext uri="{FF2B5EF4-FFF2-40B4-BE49-F238E27FC236}">
                <a16:creationId xmlns:a16="http://schemas.microsoft.com/office/drawing/2014/main" id="{11C85440-AB69-F946-9A82-C8BD3C9A7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E60C45-9C48-B343-9271-1FFC8B9AA50B}"/>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3968184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86C18-AC89-0440-82CD-21B4CE834E2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84881AE-D878-2D45-AE15-FFA5F328368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96F97F-2BB9-2142-863A-4CFF7FE0B3FC}"/>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79F555B7-D788-DA47-8F97-805A54FE2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594FD4-AAD6-3340-AAA3-6E73F7F8777E}"/>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105789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1205F-3734-0347-B5FB-4B5F01BACAE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BD0FEEA-593E-4B4F-BB08-F7F928F7F32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3A04FFD-6A04-C340-9AC8-DA67306DFCDD}"/>
              </a:ext>
            </a:extLst>
          </p:cNvPr>
          <p:cNvSpPr>
            <a:spLocks noGrp="1"/>
          </p:cNvSpPr>
          <p:nvPr>
            <p:ph type="dt" sz="half" idx="10"/>
          </p:nvPr>
        </p:nvSpPr>
        <p:spPr/>
        <p:txBody>
          <a:body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CFEDD0FB-5D37-584C-A3DF-3885E4C333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C5BC1E-D5AD-C748-9AEE-3FE67D759DDF}"/>
              </a:ext>
            </a:extLst>
          </p:cNvPr>
          <p:cNvSpPr>
            <a:spLocks noGrp="1"/>
          </p:cNvSpPr>
          <p:nvPr>
            <p:ph type="sldNum" sz="quarter" idx="12"/>
          </p:nvPr>
        </p:nvSpPr>
        <p:spPr/>
        <p:txBody>
          <a:bodyPr/>
          <a:lstStyle/>
          <a:p>
            <a:fld id="{37D6570C-66BD-BC4F-ADA2-EAFA9D815332}" type="slidenum">
              <a:rPr lang="en-US" smtClean="0"/>
              <a:t>‹#›</a:t>
            </a:fld>
            <a:endParaRPr lang="en-US"/>
          </a:p>
        </p:txBody>
      </p:sp>
    </p:spTree>
    <p:extLst>
      <p:ext uri="{BB962C8B-B14F-4D97-AF65-F5344CB8AC3E}">
        <p14:creationId xmlns:p14="http://schemas.microsoft.com/office/powerpoint/2010/main" val="1509106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51F18-4F93-BB41-BF48-81F15F0DEA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A1E439C-DF94-A041-880F-35F5E7A17F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5CF17D-C92A-5B46-8E3D-55F725CBD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889F9D-E60C-2E4E-81BE-0F47A048D978}" type="datetimeFigureOut">
              <a:rPr lang="en-US" smtClean="0"/>
              <a:t>3/12/21</a:t>
            </a:fld>
            <a:endParaRPr lang="en-US"/>
          </a:p>
        </p:txBody>
      </p:sp>
      <p:sp>
        <p:nvSpPr>
          <p:cNvPr id="5" name="Footer Placeholder 4">
            <a:extLst>
              <a:ext uri="{FF2B5EF4-FFF2-40B4-BE49-F238E27FC236}">
                <a16:creationId xmlns:a16="http://schemas.microsoft.com/office/drawing/2014/main" id="{B5968F81-D9CA-9143-90AE-093FE829CE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3613CC-A904-BB4A-8B28-5800934A7A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D6570C-66BD-BC4F-ADA2-EAFA9D815332}" type="slidenum">
              <a:rPr lang="en-US" smtClean="0"/>
              <a:t>‹#›</a:t>
            </a:fld>
            <a:endParaRPr lang="en-US"/>
          </a:p>
        </p:txBody>
      </p:sp>
    </p:spTree>
    <p:extLst>
      <p:ext uri="{BB962C8B-B14F-4D97-AF65-F5344CB8AC3E}">
        <p14:creationId xmlns:p14="http://schemas.microsoft.com/office/powerpoint/2010/main" val="2458291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11A0FA-ED0F-40BD-BCE7-CF886E9C5541}"/>
              </a:ext>
            </a:extLst>
          </p:cNvPr>
          <p:cNvPicPr>
            <a:picLocks noChangeAspect="1"/>
          </p:cNvPicPr>
          <p:nvPr/>
        </p:nvPicPr>
        <p:blipFill>
          <a:blip r:embed="rId2"/>
          <a:stretch>
            <a:fillRect/>
          </a:stretch>
        </p:blipFill>
        <p:spPr>
          <a:xfrm>
            <a:off x="8672283" y="5125892"/>
            <a:ext cx="3448870" cy="1269403"/>
          </a:xfrm>
          <a:prstGeom prst="rect">
            <a:avLst/>
          </a:prstGeom>
        </p:spPr>
      </p:pic>
      <p:sp>
        <p:nvSpPr>
          <p:cNvPr id="9" name="TextBox 8">
            <a:extLst>
              <a:ext uri="{FF2B5EF4-FFF2-40B4-BE49-F238E27FC236}">
                <a16:creationId xmlns:a16="http://schemas.microsoft.com/office/drawing/2014/main" id="{B52561C7-9362-410D-ABC2-75F3BC58A27B}"/>
              </a:ext>
            </a:extLst>
          </p:cNvPr>
          <p:cNvSpPr txBox="1"/>
          <p:nvPr/>
        </p:nvSpPr>
        <p:spPr>
          <a:xfrm>
            <a:off x="161366" y="190410"/>
            <a:ext cx="8854618" cy="3847207"/>
          </a:xfrm>
          <a:prstGeom prst="rect">
            <a:avLst/>
          </a:prstGeom>
          <a:noFill/>
        </p:spPr>
        <p:txBody>
          <a:bodyPr wrap="square" rtlCol="0">
            <a:spAutoFit/>
          </a:bodyPr>
          <a:lstStyle/>
          <a:p>
            <a:pPr algn="ctr"/>
            <a:r>
              <a:rPr lang="en-GB" sz="3200" b="1" dirty="0"/>
              <a:t>Caring for your Colleagues</a:t>
            </a:r>
          </a:p>
          <a:p>
            <a:pPr algn="ctr"/>
            <a:endParaRPr lang="en-GB" sz="1100" dirty="0"/>
          </a:p>
          <a:p>
            <a:pPr algn="ctr"/>
            <a:r>
              <a:rPr lang="en-GB" sz="2800" i="1" dirty="0"/>
              <a:t>A BARNA Webinar on Tuesday 23</a:t>
            </a:r>
            <a:r>
              <a:rPr lang="en-GB" sz="2800" i="1" baseline="30000" dirty="0"/>
              <a:t>rd</a:t>
            </a:r>
            <a:r>
              <a:rPr lang="en-GB" sz="2800" i="1" dirty="0"/>
              <a:t> March at 7.30pm</a:t>
            </a:r>
            <a:endParaRPr lang="en-GB" sz="2800" i="1" dirty="0">
              <a:solidFill>
                <a:srgbClr val="C00000"/>
              </a:solidFill>
            </a:endParaRPr>
          </a:p>
          <a:p>
            <a:pPr algn="ctr"/>
            <a:endParaRPr lang="en-GB" sz="1100" dirty="0"/>
          </a:p>
          <a:p>
            <a:pPr algn="just"/>
            <a:r>
              <a:rPr lang="en-GB" dirty="0"/>
              <a:t>We are proud to present to our Members </a:t>
            </a:r>
            <a:r>
              <a:rPr lang="en-GB" b="1" dirty="0"/>
              <a:t>Registered Psychotherapist and Chaplain of the East Lancashire NHS Trust</a:t>
            </a:r>
            <a:r>
              <a:rPr lang="en-GB" dirty="0"/>
              <a:t>,</a:t>
            </a:r>
            <a:r>
              <a:rPr lang="en-GB" b="1" dirty="0"/>
              <a:t> Reverend David Anderson</a:t>
            </a:r>
            <a:r>
              <a:rPr lang="en-GB" dirty="0"/>
              <a:t>, who </a:t>
            </a:r>
            <a:r>
              <a:rPr lang="en-US" dirty="0"/>
              <a:t>will talk about caring for your colleagues at this stage of the </a:t>
            </a:r>
            <a:r>
              <a:rPr lang="en-US" dirty="0" err="1"/>
              <a:t>Covid</a:t>
            </a:r>
            <a:r>
              <a:rPr lang="en-US" dirty="0"/>
              <a:t> pandemic when stress remains high, exhaustion has set in and inner reserves are depleted. </a:t>
            </a:r>
          </a:p>
          <a:p>
            <a:pPr algn="just"/>
            <a:endParaRPr lang="en-US" dirty="0"/>
          </a:p>
          <a:p>
            <a:pPr algn="just"/>
            <a:r>
              <a:rPr lang="en-US" dirty="0"/>
              <a:t>David has recently been awarded the British Empire Medal for his work with staff, patients and their families during the </a:t>
            </a:r>
            <a:r>
              <a:rPr lang="en-US" dirty="0" err="1"/>
              <a:t>Covid</a:t>
            </a:r>
            <a:r>
              <a:rPr lang="en-US" dirty="0"/>
              <a:t> Pandemic. Amongst his other work he published the findings of his research into Self Harm in the February 2018 Nursing Times and if we are lucky he may also introduce us to his ‘Therapy Dog’ Jasper.*</a:t>
            </a:r>
          </a:p>
        </p:txBody>
      </p:sp>
      <p:sp>
        <p:nvSpPr>
          <p:cNvPr id="10" name="TextBox 9">
            <a:extLst>
              <a:ext uri="{FF2B5EF4-FFF2-40B4-BE49-F238E27FC236}">
                <a16:creationId xmlns:a16="http://schemas.microsoft.com/office/drawing/2014/main" id="{D1EAD3EA-7B3E-4392-8442-74C00E19D273}"/>
              </a:ext>
            </a:extLst>
          </p:cNvPr>
          <p:cNvSpPr txBox="1"/>
          <p:nvPr/>
        </p:nvSpPr>
        <p:spPr>
          <a:xfrm>
            <a:off x="365760" y="6173885"/>
            <a:ext cx="7854696" cy="523220"/>
          </a:xfrm>
          <a:prstGeom prst="rect">
            <a:avLst/>
          </a:prstGeom>
          <a:noFill/>
        </p:spPr>
        <p:txBody>
          <a:bodyPr wrap="square" rtlCol="0">
            <a:spAutoFit/>
          </a:bodyPr>
          <a:lstStyle/>
          <a:p>
            <a:pPr defTabSz="182563"/>
            <a:r>
              <a:rPr lang="en-GB" dirty="0"/>
              <a:t>*	</a:t>
            </a:r>
            <a:r>
              <a:rPr lang="en-GB" sz="1000" dirty="0"/>
              <a:t>www.nursingtimes.net/clinical-archive/accident-and-emergency/enhancing-acute-hospital-care-for-patients-who-have-self-harmed-29-01-2018/</a:t>
            </a:r>
          </a:p>
          <a:p>
            <a:pPr indent="182563"/>
            <a:r>
              <a:rPr lang="en-GB" sz="1000" dirty="0"/>
              <a:t>www.lancashiretelegraph.co.uk/news/17743612.meet-jasper-therapy-dog-duty-blackburn-hospital/</a:t>
            </a:r>
          </a:p>
        </p:txBody>
      </p:sp>
      <p:pic>
        <p:nvPicPr>
          <p:cNvPr id="14" name="Picture 13">
            <a:extLst>
              <a:ext uri="{FF2B5EF4-FFF2-40B4-BE49-F238E27FC236}">
                <a16:creationId xmlns:a16="http://schemas.microsoft.com/office/drawing/2014/main" id="{C55B4F15-3454-42AD-9A0E-DB49A4FB7D3A}"/>
              </a:ext>
            </a:extLst>
          </p:cNvPr>
          <p:cNvPicPr>
            <a:picLocks noChangeAspect="1"/>
          </p:cNvPicPr>
          <p:nvPr/>
        </p:nvPicPr>
        <p:blipFill>
          <a:blip r:embed="rId3"/>
          <a:stretch>
            <a:fillRect/>
          </a:stretch>
        </p:blipFill>
        <p:spPr>
          <a:xfrm>
            <a:off x="9369911" y="250067"/>
            <a:ext cx="2660723" cy="3498108"/>
          </a:xfrm>
          <a:prstGeom prst="rect">
            <a:avLst/>
          </a:prstGeom>
        </p:spPr>
      </p:pic>
      <p:pic>
        <p:nvPicPr>
          <p:cNvPr id="18" name="Picture 17">
            <a:extLst>
              <a:ext uri="{FF2B5EF4-FFF2-40B4-BE49-F238E27FC236}">
                <a16:creationId xmlns:a16="http://schemas.microsoft.com/office/drawing/2014/main" id="{2541A283-5264-4527-A5AF-CAC3E57121AB}"/>
              </a:ext>
            </a:extLst>
          </p:cNvPr>
          <p:cNvPicPr>
            <a:picLocks noChangeAspect="1"/>
          </p:cNvPicPr>
          <p:nvPr/>
        </p:nvPicPr>
        <p:blipFill>
          <a:blip r:embed="rId4"/>
          <a:stretch>
            <a:fillRect/>
          </a:stretch>
        </p:blipFill>
        <p:spPr>
          <a:xfrm>
            <a:off x="70847" y="3951461"/>
            <a:ext cx="1865335" cy="2028893"/>
          </a:xfrm>
          <a:prstGeom prst="rect">
            <a:avLst/>
          </a:prstGeom>
        </p:spPr>
      </p:pic>
      <p:sp>
        <p:nvSpPr>
          <p:cNvPr id="20" name="TextBox 19">
            <a:extLst>
              <a:ext uri="{FF2B5EF4-FFF2-40B4-BE49-F238E27FC236}">
                <a16:creationId xmlns:a16="http://schemas.microsoft.com/office/drawing/2014/main" id="{29017E7E-07D2-412E-B701-9D4FAE0D65A7}"/>
              </a:ext>
            </a:extLst>
          </p:cNvPr>
          <p:cNvSpPr txBox="1"/>
          <p:nvPr/>
        </p:nvSpPr>
        <p:spPr>
          <a:xfrm>
            <a:off x="1693214" y="3961870"/>
            <a:ext cx="9229563" cy="1754326"/>
          </a:xfrm>
          <a:prstGeom prst="rect">
            <a:avLst/>
          </a:prstGeom>
          <a:noFill/>
        </p:spPr>
        <p:txBody>
          <a:bodyPr wrap="square" rtlCol="0">
            <a:spAutoFit/>
          </a:bodyPr>
          <a:lstStyle/>
          <a:p>
            <a:pPr algn="ctr"/>
            <a:endParaRPr lang="en-US" dirty="0">
              <a:solidFill>
                <a:srgbClr val="000000"/>
              </a:solidFill>
            </a:endParaRPr>
          </a:p>
          <a:p>
            <a:pPr algn="ctr"/>
            <a:r>
              <a:rPr lang="en-US" dirty="0">
                <a:solidFill>
                  <a:srgbClr val="000000"/>
                </a:solidFill>
              </a:rPr>
              <a:t>This event is free for Members who will be sent a link to this webinar which will include a question and answer session.</a:t>
            </a:r>
          </a:p>
          <a:p>
            <a:pPr algn="ctr"/>
            <a:endParaRPr lang="en-US" dirty="0">
              <a:solidFill>
                <a:srgbClr val="000000"/>
              </a:solidFill>
            </a:endParaRPr>
          </a:p>
          <a:p>
            <a:pPr algn="ctr"/>
            <a:r>
              <a:rPr lang="en-US" dirty="0">
                <a:solidFill>
                  <a:srgbClr val="000000"/>
                </a:solidFill>
              </a:rPr>
              <a:t>This event will be recorded.</a:t>
            </a:r>
          </a:p>
          <a:p>
            <a:pPr algn="ctr"/>
            <a:endParaRPr lang="en-US" dirty="0">
              <a:solidFill>
                <a:srgbClr val="000000"/>
              </a:solidFill>
            </a:endParaRPr>
          </a:p>
        </p:txBody>
      </p:sp>
      <p:sp>
        <p:nvSpPr>
          <p:cNvPr id="21" name="TextBox 20">
            <a:extLst>
              <a:ext uri="{FF2B5EF4-FFF2-40B4-BE49-F238E27FC236}">
                <a16:creationId xmlns:a16="http://schemas.microsoft.com/office/drawing/2014/main" id="{343B00EC-CA18-4788-BBB3-B7387D6BECCB}"/>
              </a:ext>
            </a:extLst>
          </p:cNvPr>
          <p:cNvSpPr txBox="1"/>
          <p:nvPr/>
        </p:nvSpPr>
        <p:spPr>
          <a:xfrm>
            <a:off x="9135757" y="6472681"/>
            <a:ext cx="2894877" cy="646331"/>
          </a:xfrm>
          <a:prstGeom prst="rect">
            <a:avLst/>
          </a:prstGeom>
          <a:noFill/>
        </p:spPr>
        <p:txBody>
          <a:bodyPr wrap="square" rtlCol="0">
            <a:spAutoFit/>
          </a:bodyPr>
          <a:lstStyle/>
          <a:p>
            <a:r>
              <a:rPr lang="en-US" dirty="0">
                <a:solidFill>
                  <a:srgbClr val="000000"/>
                </a:solidFill>
              </a:rPr>
              <a:t>www.barna.co.uk</a:t>
            </a:r>
          </a:p>
          <a:p>
            <a:endParaRPr lang="en-GB" dirty="0"/>
          </a:p>
        </p:txBody>
      </p:sp>
    </p:spTree>
    <p:extLst>
      <p:ext uri="{BB962C8B-B14F-4D97-AF65-F5344CB8AC3E}">
        <p14:creationId xmlns:p14="http://schemas.microsoft.com/office/powerpoint/2010/main" val="3549699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193</Words>
  <Application>Microsoft Macintosh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Smedley</dc:creator>
  <cp:lastModifiedBy>Patricia Smedley</cp:lastModifiedBy>
  <cp:revision>13</cp:revision>
  <dcterms:created xsi:type="dcterms:W3CDTF">2021-03-01T21:45:33Z</dcterms:created>
  <dcterms:modified xsi:type="dcterms:W3CDTF">2021-03-12T17:34:14Z</dcterms:modified>
</cp:coreProperties>
</file>